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grv-io/LCA-TOOL/blob/main/docs/DhatuChakra_Documentation.pdf" TargetMode="External"/><Relationship Id="rId5" Type="http://schemas.openxmlformats.org/officeDocument/2006/relationships/hyperlink" Target="https://github.com/grv-io/LCA-TOO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github.com/grv-io/LCA-TOOL/blob/main/docs/DhatuChakra_Documentation.pdf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github.com/grv-io/LCA-TOOL/blob/main/docs/DhatuChakra_Documentation.pdf" TargetMode="External"/><Relationship Id="rId5" Type="http://schemas.openxmlformats.org/officeDocument/2006/relationships/hyperlink" Target="https://github.com/grv-io/LCA-TOO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Problem Statement ID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48 (internal round)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Problem Statement Title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AI-Driven Life Cycle Assessment (LCA) Tool for Advancing Circularity and Sustainability in Metallurgy and Mining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Theme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Miscellaneous (Sustainability)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PS Category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Team ID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________________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E86A17"/>
                </a:solidFill>
                <a:latin typeface="Segoe UI"/>
              </a:rPr>
              <a:t>‣ </a:t>
            </a:r>
            <a:r>
              <a:rPr sz="1500" b="1" i="0">
                <a:solidFill>
                  <a:srgbClr val="1C2B3A"/>
                </a:solidFill>
                <a:latin typeface="Segoe UI"/>
              </a:rPr>
              <a:t>Team Name  </a:t>
            </a:r>
            <a:r>
              <a:rPr sz="1450" b="0" i="0">
                <a:solidFill>
                  <a:srgbClr val="24466E"/>
                </a:solidFill>
                <a:latin typeface="Segoe UI"/>
              </a:rPr>
              <a:t>________________</a:t>
            </a:r>
          </a:p>
          <a:p>
            <a:pPr>
              <a:spcAft>
                <a:spcPts val="200"/>
              </a:spcAft>
            </a:pPr>
            <a:r>
              <a:rPr sz="600" b="0" i="0">
                <a:solidFill>
                  <a:srgbClr val="1C2B3A"/>
                </a:solidFill>
                <a:latin typeface="Segoe UI"/>
              </a:rPr>
              <a:t/>
            </a:r>
          </a:p>
          <a:p>
            <a:r>
              <a:rPr sz="1500" b="1" i="0">
                <a:solidFill>
                  <a:srgbClr val="1C2B3A"/>
                </a:solidFill>
                <a:latin typeface="Segoe UI"/>
              </a:rPr>
              <a:t>Idea:  </a:t>
            </a:r>
            <a:r>
              <a:rPr sz="1600" b="1" i="0">
                <a:solidFill>
                  <a:srgbClr val="B84E0A"/>
                </a:solidFill>
                <a:latin typeface="Trebuchet MS"/>
              </a:rPr>
              <a:t>DhatuChakra </a:t>
            </a:r>
            <a:r>
              <a:rPr sz="1400" b="0" i="0">
                <a:solidFill>
                  <a:srgbClr val="5A6B7B"/>
                </a:solidFill>
                <a:latin typeface="Nirmala UI"/>
              </a:rPr>
              <a:t>(धातुचक्र)</a:t>
            </a:r>
            <a:r>
              <a:rPr sz="1250" b="0" i="1">
                <a:solidFill>
                  <a:srgbClr val="5A6B7B"/>
                </a:solidFill>
                <a:latin typeface="Nirmala UI"/>
              </a:rPr>
              <a:t>  —  हर टन का हिसाब · every tonne, accounted for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43000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1050" b="0" i="1">
                <a:solidFill>
                  <a:srgbClr val="5A6B7B"/>
                </a:solidFill>
                <a:latin typeface="Segoe UI"/>
              </a:rPr>
              <a:t>Proposed Solution (Describe your Idea/Solution/Prototype)  ·  How it addresses the problem  ·  Innovation and uniqueness of the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ounded Rectangle 15362"/>
          <p:cNvSpPr/>
          <p:nvPr/>
        </p:nvSpPr>
        <p:spPr>
          <a:xfrm>
            <a:off x="365760" y="1280160"/>
            <a:ext cx="3758184" cy="1133856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270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4466E"/>
                </a:solidFill>
                <a:latin typeface="Trebuchet MS"/>
              </a:rPr>
              <a:t>WHAT IS LCA?</a:t>
            </a:r>
          </a:p>
          <a:p>
            <a:r>
              <a:rPr sz="930" b="0" i="0">
                <a:solidFill>
                  <a:srgbClr val="1C2B3A"/>
                </a:solidFill>
                <a:latin typeface="Segoe UI"/>
              </a:rPr>
              <a:t>Life Cycle Assessment totals a product's environmental cost across its life. Core method:  Impact = Σ (quantity × emission factor). We compute it cradle-to-gate, per tonne of metal.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215384" y="1280160"/>
            <a:ext cx="3758184" cy="1133856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17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7803D"/>
                </a:solidFill>
                <a:latin typeface="Trebuchet MS"/>
              </a:rPr>
              <a:t>WHAT IS CIRCULARITY?</a:t>
            </a:r>
          </a:p>
          <a:p>
            <a:r>
              <a:rPr sz="930" b="0" i="0">
                <a:solidFill>
                  <a:srgbClr val="1C2B3A"/>
                </a:solidFill>
                <a:latin typeface="Segoe UI"/>
              </a:rPr>
              <a:t>How much material loops back (scrap, recycling) instead of being mined and landfilled. Scored 0→1 by the Material Circularity Indicator (Ellen MacArthur): 0 = fully linear, 1 = fully circular.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065008" y="1280160"/>
            <a:ext cx="3758184" cy="1133856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 w="12700">
            <a:solidFill>
              <a:srgbClr val="B84E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B84E0A"/>
                </a:solidFill>
                <a:latin typeface="Trebuchet MS"/>
              </a:rPr>
              <a:t>WHY METALS, WHY NOW?</a:t>
            </a:r>
          </a:p>
          <a:p>
            <a:r>
              <a:rPr sz="930" b="0" i="0">
                <a:solidFill>
                  <a:srgbClr val="1C2B3A"/>
                </a:solidFill>
                <a:latin typeface="Segoe UI"/>
              </a:rPr>
              <a:t>Metals ≈ 8% of global CO₂. India: circular-economy policy + National Critical Mineral Mission. EU CBAM taxes embedded carbon in steel/aluminium exports from 2026.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365760" y="2523744"/>
            <a:ext cx="6903720" cy="786384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 w="1524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/>
            <a:r>
              <a:rPr sz="1700" b="1" i="0">
                <a:solidFill>
                  <a:srgbClr val="B84E0A"/>
                </a:solidFill>
                <a:latin typeface="Trebuchet MS"/>
              </a:rPr>
              <a:t>DhatuChakra </a:t>
            </a:r>
            <a:r>
              <a:rPr sz="1300" b="0" i="0">
                <a:solidFill>
                  <a:srgbClr val="1C2B3A"/>
                </a:solidFill>
                <a:latin typeface="Nirmala UI"/>
              </a:rPr>
              <a:t>(धातुचक्र)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— AI-assisted LCA &amp; circularity engine for Indian metals: 5 inputs in, ISO-14044-style answers out.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7452360" y="2523744"/>
            <a:ext cx="4370832" cy="786384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270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64008"/>
          <a:lstStyle/>
          <a:p>
            <a:pPr algn="ctr">
              <a:spcAft>
                <a:spcPts val="100"/>
              </a:spcAft>
            </a:pPr>
            <a:r>
              <a:rPr sz="95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950" b="1" i="0">
                <a:solidFill>
                  <a:srgbClr val="1C2B3A"/>
                </a:solidFill>
                <a:latin typeface="Segoe UI"/>
              </a:rPr>
              <a:t>Demo video:  </a:t>
            </a:r>
            <a:r>
              <a:rPr sz="950" b="0" i="1">
                <a:solidFill>
                  <a:srgbClr val="5A6B7B"/>
                </a:solidFill>
                <a:latin typeface="Segoe UI"/>
              </a:rPr>
              <a:t>&lt;add link&gt;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950" b="1" i="0">
                <a:solidFill>
                  <a:srgbClr val="1C2B3A"/>
                </a:solidFill>
                <a:latin typeface="Segoe UI"/>
              </a:rPr>
              <a:t>Documentation:  </a:t>
            </a:r>
            <a:r>
              <a:rPr sz="950" b="0" i="0">
                <a:solidFill>
                  <a:srgbClr val="B84E0A"/>
                </a:solidFill>
                <a:latin typeface="Segoe UI"/>
                <a:hlinkClick r:id="rId4"/>
              </a:rPr>
              <a:t>LCA-TOOL/docs · technical PDF</a:t>
            </a:r>
          </a:p>
          <a:p>
            <a:pPr>
              <a:spcAft>
                <a:spcPts val="100"/>
              </a:spcAft>
            </a:pPr>
            <a:r>
              <a:rPr sz="95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950" b="1" i="0">
                <a:solidFill>
                  <a:srgbClr val="1C2B3A"/>
                </a:solidFill>
                <a:latin typeface="Segoe UI"/>
              </a:rPr>
              <a:t>Code + prototype:  </a:t>
            </a:r>
            <a:r>
              <a:rPr sz="950" b="0" i="0">
                <a:solidFill>
                  <a:srgbClr val="B84E0A"/>
                </a:solidFill>
                <a:latin typeface="Segoe UI"/>
                <a:hlinkClick r:id="rId5"/>
              </a:rPr>
              <a:t>github.com/grv-io/LCA-TOOL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365760" y="3438144"/>
            <a:ext cx="5577840" cy="2761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4466E"/>
                </a:solidFill>
                <a:latin typeface="Trebuchet MS"/>
              </a:rPr>
              <a:t>THE PROBLEM → OUR SOLUTION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Conventional LCA is out of reach: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25+ parameters, database licences ≈ €4,000/yr, weeks of consultants — most Indian plants skip it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DhatuChakra needs 5–8 inputs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or one plain sentence ("aluminium smelter in Odisha, 40% scrap") → full profile in seconds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AI fills the missing parameters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with visible confidence scores — estimates flagged, never hidden, always overridable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Output per tonne: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GWP · energy · water · acidification + MCI, live linear-vs-circular compare, auditable PDF report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6217920" y="3438144"/>
            <a:ext cx="5605272" cy="2761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4466E"/>
                </a:solidFill>
                <a:latin typeface="Trebuchet MS"/>
              </a:rPr>
              <a:t>INNOVATION &amp; UNIQUENESS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Not a black box: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every figure traces to a cited public source (CEA, IAI, worldsteel, EF 3.1) — shown in-app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India-first: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clickable state-grid map (Himachal 0.18 → Chhattisgarh 0.92 kg CO₂/kWh) + CBAM export cost in ₹ crore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Real statistics, real ML: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1,000-run Monte Carlo (p05–p95 on every result) + k-NN imputer with honest confidence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₹0 data cost: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built entirely on free public inventories — no ecoinvent licence anywhere</a:t>
            </a:r>
          </a:p>
          <a:p>
            <a:r>
              <a:rPr sz="1050" b="1" i="0">
                <a:solidFill>
                  <a:srgbClr val="17803D"/>
                </a:solidFill>
                <a:latin typeface="Segoe UI"/>
              </a:rPr>
              <a:t>Verified: recycled aluminium = 16.6 → 0.92 t CO₂e/t (−94%), inside IAI published ranges.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43000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1050" b="0" i="1">
                <a:solidFill>
                  <a:srgbClr val="5A6B7B"/>
                </a:solidFill>
                <a:latin typeface="Segoe UI"/>
              </a:rPr>
              <a:t>Technologies to be used (programming languages, frameworks, hardware)  ·  Methodology and process for implementation (Flow Charts / Images 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365760" y="1353312"/>
            <a:ext cx="329184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466E"/>
                </a:solidFill>
                <a:latin typeface="Trebuchet MS"/>
              </a:rPr>
              <a:t>STACK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Frontend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Next.js · TypeScript · Tailwind · Recharts · Plotly (Sankey)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Backend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Python FastAPI · Pydantic · PostgreSQL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LCA engine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factor-matrix calc · EMF MCI v3 · Brightway2.5-ready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AI / ML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LightGBM quantile imputer (p10–p90 confidence) · surrogate regressor R² &gt; 0.95, &lt; 20 ms · NumPy Monte Carlo (1,000 runs)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LLM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Claude API — plain text → scenario JSON + grounded recommendations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Reports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Jinja2 → WeasyPrint PDF</a:t>
            </a:r>
          </a:p>
          <a:p>
            <a:pPr>
              <a:spcAft>
                <a:spcPts val="600"/>
              </a:spcAft>
            </a:pPr>
            <a:r>
              <a:rPr sz="1050" b="1" i="0">
                <a:solidFill>
                  <a:srgbClr val="24466E"/>
                </a:solidFill>
                <a:latin typeface="Segoe UI"/>
              </a:rPr>
              <a:t>Deploy 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Docker · Render · Vercel</a:t>
            </a:r>
          </a:p>
          <a:p>
            <a:r>
              <a:rPr sz="1050" b="1" i="0">
                <a:solidFill>
                  <a:srgbClr val="B84E0A"/>
                </a:solidFill>
                <a:latin typeface="Segoe UI"/>
              </a:rPr>
              <a:t>Prototype today: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client-side HTML/JS, offline — 3 metals, India state map, k-NN imputer (500 scenarios), 1,000-run Monte Carlo, CBAM, Hindi UI.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886200" y="1298448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4466E"/>
                </a:solidFill>
                <a:latin typeface="Trebuchet MS"/>
              </a:rPr>
              <a:t>How a query flows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886200" y="178308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524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User input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5 fields — or one plain-English sentence</a:t>
            </a:r>
          </a:p>
        </p:txBody>
      </p:sp>
      <p:sp>
        <p:nvSpPr>
          <p:cNvPr id="17414" name="Right Arrow 17413"/>
          <p:cNvSpPr/>
          <p:nvPr/>
        </p:nvSpPr>
        <p:spPr>
          <a:xfrm>
            <a:off x="5596128" y="2084831"/>
            <a:ext cx="274320" cy="256032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5897880" y="178308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 w="1524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LLM parser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text → structured scenario JSON</a:t>
            </a:r>
          </a:p>
        </p:txBody>
      </p:sp>
      <p:sp>
        <p:nvSpPr>
          <p:cNvPr id="17416" name="Right Arrow 17415"/>
          <p:cNvSpPr/>
          <p:nvPr/>
        </p:nvSpPr>
        <p:spPr>
          <a:xfrm>
            <a:off x="7607808" y="2084831"/>
            <a:ext cx="274320" cy="256032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7909560" y="1783080"/>
            <a:ext cx="1691640" cy="868680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 w="15240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AI imputer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fills 25+ params + confidence score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9619488" y="2084831"/>
            <a:ext cx="274320" cy="256032"/>
          </a:xfrm>
          <a:prstGeom prst="righ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9921240" y="178308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24466E"/>
          </a:solidFill>
          <a:ln w="1524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LCA engine</a:t>
            </a:r>
          </a:p>
          <a:p>
            <a:pPr algn="ctr"/>
            <a:r>
              <a:rPr sz="950" b="0" i="0">
                <a:solidFill>
                  <a:srgbClr val="FFFFFF"/>
                </a:solidFill>
                <a:latin typeface="Segoe UI"/>
              </a:rPr>
              <a:t>quantities × emission factors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5897880" y="1517904"/>
            <a:ext cx="3703320" cy="219456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86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0" bIns="0"/>
          <a:lstStyle/>
          <a:p>
            <a:pPr algn="ctr"/>
            <a:r>
              <a:rPr sz="850" b="1" i="0">
                <a:solidFill>
                  <a:srgbClr val="B84E0A"/>
                </a:solidFill>
                <a:latin typeface="Segoe UI"/>
              </a:rPr>
              <a:t>AI layer</a:t>
            </a:r>
          </a:p>
        </p:txBody>
      </p:sp>
      <p:sp>
        <p:nvSpPr>
          <p:cNvPr id="17421" name="Up Arrow 17420"/>
          <p:cNvSpPr/>
          <p:nvPr/>
        </p:nvSpPr>
        <p:spPr>
          <a:xfrm>
            <a:off x="10058400" y="2679191"/>
            <a:ext cx="237744" cy="365760"/>
          </a:xfrm>
          <a:prstGeom prst="up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Can 17421"/>
          <p:cNvSpPr/>
          <p:nvPr/>
        </p:nvSpPr>
        <p:spPr>
          <a:xfrm>
            <a:off x="3886200" y="3090672"/>
            <a:ext cx="6309360" cy="658368"/>
          </a:xfrm>
          <a:prstGeom prst="can">
            <a:avLst/>
          </a:prstGeom>
          <a:solidFill>
            <a:srgbClr val="F2EEE6"/>
          </a:solidFill>
          <a:ln w="11430">
            <a:solidFill>
              <a:srgbClr val="5A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/>
            <a:r>
              <a:rPr sz="1050" b="1" i="0">
                <a:solidFill>
                  <a:srgbClr val="1C2B3A"/>
                </a:solidFill>
                <a:latin typeface="Segoe UI"/>
              </a:rPr>
              <a:t>Factor library (India-first): </a:t>
            </a:r>
            <a:r>
              <a:rPr sz="1000" b="0" i="0">
                <a:solidFill>
                  <a:srgbClr val="5A6B7B"/>
                </a:solidFill>
                <a:latin typeface="Segoe UI"/>
              </a:rPr>
              <a:t>IAI · worldsteel · CEA CO₂ Baseline · EF 3.1 · IDEMAT — every factor cited (source · year · region)</a:t>
            </a:r>
          </a:p>
        </p:txBody>
      </p:sp>
      <p:sp>
        <p:nvSpPr>
          <p:cNvPr id="17423" name="Down Arrow 17422"/>
          <p:cNvSpPr/>
          <p:nvPr/>
        </p:nvSpPr>
        <p:spPr>
          <a:xfrm>
            <a:off x="10716768" y="2679191"/>
            <a:ext cx="237744" cy="1463040"/>
          </a:xfrm>
          <a:prstGeom prst="down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ounded Rectangle 17423"/>
          <p:cNvSpPr/>
          <p:nvPr/>
        </p:nvSpPr>
        <p:spPr>
          <a:xfrm>
            <a:off x="9509760" y="4160520"/>
            <a:ext cx="2240280" cy="960120"/>
          </a:xfrm>
          <a:prstGeom prst="roundRect">
            <a:avLst>
              <a:gd name="adj" fmla="val 6000"/>
            </a:avLst>
          </a:prstGeom>
          <a:solidFill>
            <a:srgbClr val="F7EFD4"/>
          </a:solidFill>
          <a:ln w="1524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Monte Carlo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1,000 runs → p05–p95 ranges + histogram</a:t>
            </a:r>
          </a:p>
        </p:txBody>
      </p:sp>
      <p:sp>
        <p:nvSpPr>
          <p:cNvPr id="17425" name="Left Arrow 17424"/>
          <p:cNvSpPr/>
          <p:nvPr/>
        </p:nvSpPr>
        <p:spPr>
          <a:xfrm>
            <a:off x="9198864" y="4507992"/>
            <a:ext cx="274320" cy="256032"/>
          </a:xfrm>
          <a:prstGeom prst="lef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ounded Rectangle 17425"/>
          <p:cNvSpPr/>
          <p:nvPr/>
        </p:nvSpPr>
        <p:spPr>
          <a:xfrm>
            <a:off x="6748272" y="4160520"/>
            <a:ext cx="2377440" cy="960120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5240">
            <a:solidFill>
              <a:srgbClr val="17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Results / tonne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GWP · energy · water · acidification + MCI chakra</a:t>
            </a:r>
          </a:p>
        </p:txBody>
      </p:sp>
      <p:sp>
        <p:nvSpPr>
          <p:cNvPr id="17427" name="Left Arrow 17426"/>
          <p:cNvSpPr/>
          <p:nvPr/>
        </p:nvSpPr>
        <p:spPr>
          <a:xfrm>
            <a:off x="6437376" y="4507992"/>
            <a:ext cx="274320" cy="256032"/>
          </a:xfrm>
          <a:prstGeom prst="leftArrow">
            <a:avLst/>
          </a:prstGeom>
          <a:solidFill>
            <a:srgbClr val="5A6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3886200" y="4160520"/>
            <a:ext cx="24688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100"/>
              </a:spcAft>
            </a:pPr>
            <a:r>
              <a:rPr sz="1100" b="1" i="0">
                <a:solidFill>
                  <a:srgbClr val="1C2B3A"/>
                </a:solidFill>
                <a:latin typeface="Segoe UI"/>
              </a:rPr>
              <a:t>Dashboard &amp; report</a:t>
            </a:r>
          </a:p>
          <a:p>
            <a:pPr algn="ctr"/>
            <a:r>
              <a:rPr sz="950" b="0" i="0">
                <a:solidFill>
                  <a:srgbClr val="5A6B7B"/>
                </a:solidFill>
                <a:latin typeface="Segoe UI"/>
              </a:rPr>
              <a:t>Sankey · compare sliders · recommendations · PDF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3886200" y="5248656"/>
            <a:ext cx="3886200" cy="950976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17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64008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17803D"/>
                </a:solidFill>
                <a:latin typeface="Trebuchet MS"/>
              </a:rPr>
              <a:t>IMPLEMENTED TODAY  ✓</a:t>
            </a:r>
          </a:p>
          <a:p>
            <a:r>
              <a:rPr sz="919" b="0" i="0">
                <a:solidFill>
                  <a:srgbClr val="1C2B3A"/>
                </a:solidFill>
                <a:latin typeface="Segoe UI"/>
              </a:rPr>
              <a:t>3 metals · 6 scenarios · state-grid map · k-NN imputer · 1,000-run Monte Carlo · CBAM ₹ calculator · MCI chakra · benchmarks · Hindi UI · report — offline, zero backend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7882127" y="5248656"/>
            <a:ext cx="3913632" cy="950976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270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36576" bIns="64008"/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24466E"/>
                </a:solidFill>
                <a:latin typeface="Trebuchet MS"/>
              </a:rPr>
              <a:t>FULL BUILD  (planned, spec ready)</a:t>
            </a:r>
          </a:p>
          <a:p>
            <a:r>
              <a:rPr sz="919" b="0" i="0">
                <a:solidFill>
                  <a:srgbClr val="1C2B3A"/>
                </a:solidFill>
                <a:latin typeface="Segoe UI"/>
              </a:rPr>
              <a:t>Brightway2.5 matrix LCA · LightGBM imputer · LLM parser · FastAPI + PostgreSQL — full details: </a:t>
            </a:r>
            <a:r>
              <a:rPr sz="919" b="0" i="0">
                <a:solidFill>
                  <a:srgbClr val="B84E0A"/>
                </a:solidFill>
                <a:latin typeface="Segoe UI"/>
                <a:hlinkClick r:id="rId4"/>
              </a:rPr>
              <a:t>technical PDF</a:t>
            </a:r>
            <a:r>
              <a:rPr sz="919" b="0" i="1">
                <a:solidFill>
                  <a:srgbClr val="5A6B7B"/>
                </a:solidFill>
                <a:latin typeface="Segoe UI"/>
              </a:rPr>
              <a:t>  ·  demo video — &lt;add link&gt;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43000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50" b="0" i="1">
                <a:solidFill>
                  <a:srgbClr val="5A6B7B"/>
                </a:solidFill>
                <a:latin typeface="Segoe UI"/>
              </a:rPr>
              <a:t>Analysis of the feasibility of the idea  ·  Potential challenges and risks  ·  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365760" y="1353312"/>
            <a:ext cx="457200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4466E"/>
                </a:solidFill>
                <a:latin typeface="Trebuchet MS"/>
              </a:rPr>
              <a:t>WHY THIS IS BUILDABLE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100% free data —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IAI, worldsteel, CEA, EF 3.1, IDEMAT: no paid-licence blocker anywhere in the pipeline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Working prototype live —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3 metals, state-grid map, k-NN imputer, Monte Carlo, CBAM, Hindi UI; full-build plan written</a:t>
            </a:r>
          </a:p>
          <a:p>
            <a:pPr>
              <a:spcAft>
                <a:spcPts val="500"/>
              </a:spcAft>
            </a:pPr>
            <a:r>
              <a:rPr sz="10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050" b="1" i="0">
                <a:solidFill>
                  <a:srgbClr val="1C2B3A"/>
                </a:solidFill>
                <a:latin typeface="Segoe UI"/>
              </a:rPr>
              <a:t>ML needs no scarce dataset — </a:t>
            </a:r>
            <a:r>
              <a:rPr sz="1050" b="0" i="0">
                <a:solidFill>
                  <a:srgbClr val="1C2B3A"/>
                </a:solidFill>
                <a:latin typeface="Segoe UI"/>
              </a:rPr>
              <a:t>the imputer trains on physics-generated scenarios from our own engine</a:t>
            </a:r>
          </a:p>
          <a:p>
            <a:r>
              <a:rPr sz="1050" b="1" i="0">
                <a:solidFill>
                  <a:srgbClr val="24466E"/>
                </a:solidFill>
                <a:latin typeface="Segoe UI"/>
              </a:rPr>
              <a:t>Validated against published values (t CO₂e / t metal):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530352" y="3675887"/>
          <a:ext cx="4261103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831"/>
                <a:gridCol w="658368"/>
                <a:gridCol w="1517904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Trebuchet MS"/>
                        </a:rPr>
                        <a:t>Route</a:t>
                      </a:r>
                    </a:p>
                  </a:txBody>
                  <a:tcPr marL="54864" marR="36576" marT="18288" marB="18288" anchor="ctr">
                    <a:solidFill>
                      <a:srgbClr val="244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Trebuchet MS"/>
                        </a:rPr>
                        <a:t>Ours</a:t>
                      </a:r>
                    </a:p>
                  </a:txBody>
                  <a:tcPr marL="54864" marR="36576" marT="18288" marB="18288" anchor="ctr">
                    <a:solidFill>
                      <a:srgbClr val="244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Trebuchet MS"/>
                        </a:rPr>
                        <a:t>Published range</a:t>
                      </a:r>
                    </a:p>
                  </a:txBody>
                  <a:tcPr marL="54864" marR="36576" marT="18288" marB="18288" anchor="ctr">
                    <a:solidFill>
                      <a:srgbClr val="24466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C2B3A"/>
                          </a:solidFill>
                          <a:latin typeface="Segoe UI"/>
                        </a:rPr>
                        <a:t>Aluminium — primary (IN grid)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7803D"/>
                          </a:solidFill>
                          <a:latin typeface="Segoe UI"/>
                        </a:rPr>
                        <a:t>16.6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A6B7B"/>
                          </a:solidFill>
                          <a:latin typeface="Segoe UI"/>
                        </a:rPr>
                        <a:t>16–20 (IAI)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C2B3A"/>
                          </a:solidFill>
                          <a:latin typeface="Segoe UI"/>
                        </a:rPr>
                        <a:t>Aluminium — recycled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7803D"/>
                          </a:solidFill>
                          <a:latin typeface="Segoe UI"/>
                        </a:rPr>
                        <a:t>0.92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A6B7B"/>
                          </a:solidFill>
                          <a:latin typeface="Segoe UI"/>
                        </a:rPr>
                        <a:t>0.5–1.5 (IAI)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C2B3A"/>
                          </a:solidFill>
                          <a:latin typeface="Segoe UI"/>
                        </a:rPr>
                        <a:t>Steel — BF-BOF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7803D"/>
                          </a:solidFill>
                          <a:latin typeface="Segoe UI"/>
                        </a:rPr>
                        <a:t>2.19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A6B7B"/>
                          </a:solidFill>
                          <a:latin typeface="Segoe UI"/>
                        </a:rPr>
                        <a:t>1.9–2.4 (worldsteel)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C2B3A"/>
                          </a:solidFill>
                          <a:latin typeface="Segoe UI"/>
                        </a:rPr>
                        <a:t>Steel — EAF (scrap)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7803D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A6B7B"/>
                          </a:solidFill>
                          <a:latin typeface="Segoe UI"/>
                        </a:rPr>
                        <a:t>0.4–1.0 (worldsteel)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C2B3A"/>
                          </a:solidFill>
                          <a:latin typeface="Segoe UI"/>
                        </a:rPr>
                        <a:t>Copper — primary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7803D"/>
                          </a:solidFill>
                          <a:latin typeface="Segoe UI"/>
                        </a:rPr>
                        <a:t>4.24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5A6B7B"/>
                          </a:solidFill>
                          <a:latin typeface="Segoe UI"/>
                        </a:rPr>
                        <a:t>≈4.2 (EF 3.1, indic.)</a:t>
                      </a:r>
                    </a:p>
                  </a:txBody>
                  <a:tcPr marL="54864" marR="3657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13" name="Table 17412"/>
          <p:cNvGraphicFramePr>
            <a:graphicFrameLocks noGrp="1"/>
          </p:cNvGraphicFramePr>
          <p:nvPr/>
        </p:nvGraphicFramePr>
        <p:xfrm>
          <a:off x="5212080" y="1353312"/>
          <a:ext cx="6583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4251960"/>
              </a:tblGrid>
              <a:tr h="80772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rebuchet MS"/>
                        </a:rPr>
                        <a:t>Challenge / Risk</a:t>
                      </a:r>
                    </a:p>
                  </a:txBody>
                  <a:tcPr marL="91440" marR="91440" marT="45720" marB="45720" anchor="ctr">
                    <a:solidFill>
                      <a:srgbClr val="2446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rebuchet MS"/>
                        </a:rPr>
                        <a:t>Strategy</a:t>
                      </a:r>
                    </a:p>
                  </a:txBody>
                  <a:tcPr marL="91440" marR="91440" marT="45720" marB="45720" anchor="ctr">
                    <a:solidFill>
                      <a:srgbClr val="24466E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B3A"/>
                          </a:solidFill>
                          <a:latin typeface="Segoe UI"/>
                        </a:rPr>
                        <a:t>LCI data gaps for Indian plants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B3A"/>
                          </a:solidFill>
                          <a:latin typeface="Segoe UI"/>
                        </a:rPr>
                        <a:t>Curated 100+ factor table, every row cited (source · year · region); fallback chain IN → world average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B3A"/>
                          </a:solidFill>
                          <a:latin typeface="Segoe UI"/>
                        </a:rPr>
                        <a:t>Wrong numbers = zero credibility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B3A"/>
                          </a:solidFill>
                          <a:latin typeface="Segoe UI"/>
                        </a:rPr>
                        <a:t>Validation suite vs IAI / worldsteel published values runs on every change; &lt; 10% error target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B3A"/>
                          </a:solidFill>
                          <a:latin typeface="Segoe UI"/>
                        </a:rPr>
                        <a:t>“AI is a black box” objection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B3A"/>
                          </a:solidFill>
                          <a:latin typeface="Segoe UI"/>
                        </a:rPr>
                        <a:t>Confidence score on every estimate + provenance table + uncertainty ranges on screen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B3A"/>
                          </a:solidFill>
                          <a:latin typeface="Segoe UI"/>
                        </a:rPr>
                        <a:t>Users can't fill 25+ parameters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B3A"/>
                          </a:solidFill>
                          <a:latin typeface="Segoe UI"/>
                        </a:rPr>
                        <a:t>Plain-English entry + AI imputation — only 5–8 inputs needed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C2B3A"/>
                          </a:solidFill>
                          <a:latin typeface="Segoe UI"/>
                        </a:rPr>
                        <a:t>Scope creep in hackathon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C2B3A"/>
                          </a:solidFill>
                          <a:latin typeface="Segoe UI"/>
                        </a:rPr>
                        <a:t>v1 scope locked and SHIPPED: 3 metals, 4 impact categories; Brightway2.5 swap reserved for full build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43000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50" b="0" i="1">
                <a:solidFill>
                  <a:srgbClr val="5A6B7B"/>
                </a:solidFill>
                <a:latin typeface="Segoe UI"/>
              </a:rPr>
              <a:t>Potential impact on the target audience  ·  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365760" y="1353312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5240">
            <a:solidFill>
              <a:srgbClr val="17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17803D"/>
                </a:solidFill>
                <a:latin typeface="Trebuchet MS"/>
              </a:rPr>
              <a:t>−94%</a:t>
            </a:r>
          </a:p>
          <a:p>
            <a:pPr algn="ctr"/>
            <a:r>
              <a:rPr sz="1050" b="0" i="0">
                <a:solidFill>
                  <a:srgbClr val="1C2B3A"/>
                </a:solidFill>
                <a:latin typeface="Segoe UI"/>
              </a:rPr>
              <a:t>CO₂ on the recycled aluminium route — 16.6 → 0.92 t CO₂e per tonne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70248" y="1353312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524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24466E"/>
                </a:solidFill>
                <a:latin typeface="Trebuchet MS"/>
              </a:rPr>
              <a:t>≈ 4.9 t</a:t>
            </a:r>
          </a:p>
          <a:p>
            <a:pPr algn="ctr"/>
            <a:r>
              <a:rPr sz="1050" b="0" i="0">
                <a:solidFill>
                  <a:srgbClr val="1C2B3A"/>
                </a:solidFill>
                <a:latin typeface="Segoe UI"/>
              </a:rPr>
              <a:t>CO₂e/t removed by a 50% renewable PPA on a primary Al smelter (India grid)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174736" y="1353312"/>
            <a:ext cx="3749039" cy="1298448"/>
          </a:xfrm>
          <a:prstGeom prst="roundRect">
            <a:avLst>
              <a:gd name="adj" fmla="val 6000"/>
            </a:avLst>
          </a:prstGeom>
          <a:solidFill>
            <a:srgbClr val="FCEFE3"/>
          </a:solidFill>
          <a:ln w="15240">
            <a:solidFill>
              <a:srgbClr val="B84E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4008" bIns="64008"/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B84E0A"/>
                </a:solidFill>
                <a:latin typeface="Trebuchet MS"/>
              </a:rPr>
              <a:t>₹0 · minutes</a:t>
            </a:r>
          </a:p>
          <a:p>
            <a:pPr algn="ctr"/>
            <a:r>
              <a:rPr sz="1050" b="0" i="0">
                <a:solidFill>
                  <a:srgbClr val="1C2B3A"/>
                </a:solidFill>
                <a:latin typeface="Segoe UI"/>
              </a:rPr>
              <a:t>database cost &amp; assessment time — vs €4k/yr licences and weeks of consulting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65760" y="2852928"/>
            <a:ext cx="55778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466E"/>
                </a:solidFill>
                <a:latin typeface="Trebuchet MS"/>
              </a:rPr>
              <a:t>WHO GAINS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Metal producers &amp; MSMEs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LCA answers in minutes; decide scrap %, energy sourcing and routes with numbers, not guesses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Ministry of Mines &amp; regulators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standardised, comparable, auditable plant data; supports the National Critical Mineral Mission and circular-economy policy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Exporters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EU CBAM's definitive regime starts 2026: embedded-emissions reporting for steel &amp; aluminium exports becomes mandatory — exactly what this tool produces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217920" y="2852928"/>
            <a:ext cx="5605272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466E"/>
                </a:solidFill>
                <a:latin typeface="Trebuchet MS"/>
              </a:rPr>
              <a:t>BENEFITS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Environmental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quantifies the shift to circular routes; pinpoints hotspot stages (smelting ≈ 62% of primary-Al footprint)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Economic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saves licence + consultant costs; higher circularity = lower import dependence on ore &amp; energy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Social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small plants get the same analysis capability as corporates; methodology fully transparent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B84E0A"/>
                </a:solidFill>
                <a:latin typeface="Segoe UI"/>
              </a:rPr>
              <a:t>•  </a:t>
            </a:r>
            <a:r>
              <a:rPr sz="1150" b="1" i="0">
                <a:solidFill>
                  <a:srgbClr val="1C2B3A"/>
                </a:solidFill>
                <a:latin typeface="Segoe UI"/>
              </a:rPr>
              <a:t>Strategic — </a:t>
            </a:r>
            <a:r>
              <a:rPr sz="1150" b="0" i="0">
                <a:solidFill>
                  <a:srgbClr val="1C2B3A"/>
                </a:solidFill>
                <a:latin typeface="Segoe UI"/>
              </a:rPr>
              <a:t>an India-first open emission-factor library becomes reusable national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65760" y="1024128"/>
            <a:ext cx="11430000" cy="256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50" b="0" i="1">
                <a:solidFill>
                  <a:srgbClr val="5A6B7B"/>
                </a:solidFill>
                <a:latin typeface="Segoe UI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Rounded Rectangle 17410"/>
          <p:cNvSpPr/>
          <p:nvPr/>
        </p:nvSpPr>
        <p:spPr>
          <a:xfrm>
            <a:off x="365760" y="1353312"/>
            <a:ext cx="7223760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24466E"/>
                </a:solidFill>
                <a:latin typeface="Trebuchet MS"/>
              </a:rPr>
              <a:t>RESEARCH &amp; DATA SOURCES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1.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ISO 14040 / 14044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LCA principles, requirements &amp; guidelines · iso.org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2.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Ellen MacArthur Foundation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Material Circularity Indicator methodology v3 · ellenmacarthurfoundation.org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3.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International Aluminium Institute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LCI data &amp; GHG pathways · international-aluminium.org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4.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worldsteel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Life Cycle Inventory methodology report · worldsteel.org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5.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CEA CO₂ Baseline Database v19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India grid emission factor · cea.nic.in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6.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US LCI (NREL) / EU EF 3.1 · ELCD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lcacommons.gov · eplca.jrc.ec.europa.eu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7.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IDEMAT 2024, TU Delft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open LCI factors · idematapp.com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8.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IBM Indian Minerals Yearbook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Ministry of Mines · ibm.gov.in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 9.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EU CBAM Regulation 2023/956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carbon reporting for metal imports · taxation-customs.ec.europa.eu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10. 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NITI Aayog</a:t>
            </a:r>
            <a:r>
              <a:rPr sz="1100" b="0" i="0">
                <a:solidFill>
                  <a:srgbClr val="5A6B7B"/>
                </a:solidFill>
                <a:latin typeface="Segoe UI"/>
              </a:rPr>
              <a:t> — circular-economy strategy papers for metals · niti.gov.in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772400" y="1353312"/>
            <a:ext cx="4050791" cy="2286000"/>
          </a:xfrm>
          <a:prstGeom prst="roundRect">
            <a:avLst>
              <a:gd name="adj" fmla="val 6000"/>
            </a:avLst>
          </a:prstGeom>
          <a:solidFill>
            <a:srgbClr val="EBF1F7"/>
          </a:solidFill>
          <a:ln w="12700">
            <a:solidFill>
              <a:srgbClr val="244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4466E"/>
                </a:solidFill>
                <a:latin typeface="Trebuchet MS"/>
              </a:rPr>
              <a:t>OUR LINKS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Demo video:  </a:t>
            </a:r>
            <a:r>
              <a:rPr sz="1100" b="0" i="1">
                <a:solidFill>
                  <a:srgbClr val="5A6B7B"/>
                </a:solidFill>
                <a:latin typeface="Segoe UI"/>
              </a:rPr>
              <a:t>&lt;add link&gt;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Documentation (PDF):  </a:t>
            </a:r>
            <a:r>
              <a:rPr sz="1100" b="0" i="0">
                <a:solidFill>
                  <a:srgbClr val="B84E0A"/>
                </a:solidFill>
                <a:latin typeface="Segoe UI"/>
                <a:hlinkClick r:id="rId4"/>
              </a:rPr>
              <a:t>LCA-TOOL/docs/DhatuChakra_Documentation.pdf</a:t>
            </a:r>
          </a:p>
          <a:p>
            <a:pPr>
              <a:spcAft>
                <a:spcPts val="500"/>
              </a:spcAft>
            </a:pPr>
            <a:r>
              <a:rPr sz="1100" b="1" i="0">
                <a:solidFill>
                  <a:srgbClr val="B84E0A"/>
                </a:solidFill>
                <a:latin typeface="Segoe UI"/>
              </a:rPr>
              <a:t>▸ </a:t>
            </a:r>
            <a:r>
              <a:rPr sz="1100" b="1" i="0">
                <a:solidFill>
                  <a:srgbClr val="1C2B3A"/>
                </a:solidFill>
                <a:latin typeface="Segoe UI"/>
              </a:rPr>
              <a:t>Code + prototype:  </a:t>
            </a:r>
            <a:r>
              <a:rPr sz="1100" b="0" i="0">
                <a:solidFill>
                  <a:srgbClr val="B84E0A"/>
                </a:solidFill>
                <a:latin typeface="Segoe UI"/>
                <a:hlinkClick r:id="rId5"/>
              </a:rPr>
              <a:t>github.com/grv-io/LCA-TOOL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7772400" y="3840480"/>
            <a:ext cx="4050791" cy="2359152"/>
          </a:xfrm>
          <a:prstGeom prst="roundRect">
            <a:avLst>
              <a:gd name="adj" fmla="val 6000"/>
            </a:avLst>
          </a:prstGeom>
          <a:solidFill>
            <a:srgbClr val="E9F4EC"/>
          </a:solidFill>
          <a:ln w="12700">
            <a:solidFill>
              <a:srgbClr val="17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64008" bIns="64008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17803D"/>
                </a:solidFill>
                <a:latin typeface="Trebuchet MS"/>
              </a:rPr>
              <a:t>REPRODUCIBLE BY DESIGN</a:t>
            </a:r>
          </a:p>
          <a:p>
            <a:r>
              <a:rPr sz="1100" b="0" i="0">
                <a:solidFill>
                  <a:srgbClr val="1C2B3A"/>
                </a:solidFill>
                <a:latin typeface="Segoe UI"/>
              </a:rPr>
              <a:t>Every number in this deck — 16.6, 0.92, 2.19, 0.70 t CO₂e/t, MCI 0.16→0.83, 62% electricity share — is computed from the sources listed; formulas and validation are in the linked technical PDF.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