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Problem Statement ID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48 (internal round)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Problem Statement Title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AI-Driven Life Cycle Assessment (LCA) Tool for Advancing Circularity and Sustainability in Metallurgy and Mining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Theme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Miscellaneous (Sustainability)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PS Category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Team ID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________________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Team Name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________________</a:t>
            </a:r>
          </a:p>
          <a:p>
            <a:pPr>
              <a:spcAft>
                <a:spcPts val="200"/>
              </a:spcAft>
            </a:pPr>
            <a:r>
              <a:rPr sz="600" b="0" i="0">
                <a:solidFill>
                  <a:srgbClr val="1C2B3A"/>
                </a:solidFill>
                <a:latin typeface="Segoe UI"/>
              </a:rPr>
              <a:t/>
            </a:r>
          </a:p>
          <a:p>
            <a:r>
              <a:rPr sz="1500" b="1" i="0">
                <a:solidFill>
                  <a:srgbClr val="1C2B3A"/>
                </a:solidFill>
                <a:latin typeface="Segoe UI"/>
              </a:rPr>
              <a:t>Idea:  </a:t>
            </a:r>
            <a:r>
              <a:rPr sz="1600" b="1" i="0">
                <a:solidFill>
                  <a:srgbClr val="B84E0A"/>
                </a:solidFill>
                <a:latin typeface="Trebuchet MS"/>
              </a:rPr>
              <a:t>DhatuChakra </a:t>
            </a:r>
            <a:r>
              <a:rPr sz="1400" b="0" i="0">
                <a:solidFill>
                  <a:srgbClr val="5A6B7B"/>
                </a:solidFill>
                <a:latin typeface="Nirmala UI"/>
              </a:rPr>
              <a:t>(धातुचक्र)</a:t>
            </a:r>
            <a:r>
              <a:rPr sz="1250" b="0" i="1">
                <a:solidFill>
                  <a:srgbClr val="5A6B7B"/>
                </a:solidFill>
                <a:latin typeface="Nirmala UI"/>
              </a:rPr>
              <a:t>  —  हर टन का हिसाब · every tonne, accounted for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Proposed Solution (Describe your Idea/Solution/Prototype)  ·  How it addresses the problem  ·  Innovation and uniqueness of the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365760" y="1298448"/>
            <a:ext cx="6903720" cy="932688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B84E0A"/>
                </a:solidFill>
                <a:latin typeface="Trebuchet MS"/>
              </a:rPr>
              <a:t>DhatuChakra </a:t>
            </a:r>
            <a:r>
              <a:rPr sz="1600" b="0" i="0">
                <a:solidFill>
                  <a:srgbClr val="1C2B3A"/>
                </a:solidFill>
                <a:latin typeface="Nirmala UI"/>
              </a:rPr>
              <a:t>(धातुचक्र)</a:t>
            </a:r>
          </a:p>
          <a:p>
            <a:r>
              <a:rPr sz="1150" b="0" i="0">
                <a:solidFill>
                  <a:srgbClr val="1C2B3A"/>
                </a:solidFill>
                <a:latin typeface="Segoe UI"/>
              </a:rPr>
              <a:t>AI-assisted life-cycle assessment &amp; circularity engine for Indian metals — 5 inputs in, ISO-14044-style answers out.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7452360" y="1298448"/>
            <a:ext cx="4370832" cy="932688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270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4466E"/>
                </a:solidFill>
                <a:latin typeface="Segoe UI"/>
              </a:rPr>
              <a:t>Working prototype — see it run</a:t>
            </a:r>
          </a:p>
          <a:p>
            <a:pPr>
              <a:spcAft>
                <a:spcPts val="100"/>
              </a:spcAft>
            </a:pPr>
            <a:r>
              <a:rPr sz="10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050" b="1" i="0">
                <a:solidFill>
                  <a:srgbClr val="1C2B3A"/>
                </a:solidFill>
                <a:latin typeface="Segoe UI"/>
              </a:rPr>
              <a:t>Demo video:  </a:t>
            </a:r>
            <a:r>
              <a:rPr sz="1050" b="0" i="1">
                <a:solidFill>
                  <a:srgbClr val="5A6B7B"/>
                </a:solidFill>
                <a:latin typeface="Segoe UI"/>
              </a:rPr>
              <a:t>&lt;add link&gt;</a:t>
            </a:r>
          </a:p>
          <a:p>
            <a:pPr>
              <a:spcAft>
                <a:spcPts val="100"/>
              </a:spcAft>
            </a:pPr>
            <a:r>
              <a:rPr sz="10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050" b="1" i="0">
                <a:solidFill>
                  <a:srgbClr val="1C2B3A"/>
                </a:solidFill>
                <a:latin typeface="Segoe UI"/>
              </a:rPr>
              <a:t>Documentation:  </a:t>
            </a:r>
            <a:r>
              <a:rPr sz="1050" b="0" i="1">
                <a:solidFill>
                  <a:srgbClr val="5A6B7B"/>
                </a:solidFill>
                <a:latin typeface="Segoe UI"/>
              </a:rPr>
              <a:t>&lt;add link&gt;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395728"/>
            <a:ext cx="5577840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THE PROBLEM → OUR SOLUTION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LCA today is out of reach: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25+ process parameters, database licences (ecoinvent ≈ €4,000/yr), weeks of consultants — most Indian plants simply skip it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DhatuChakra needs 5–8 inputs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— or one plain sentence ("aluminium smelter in Odisha, 40% scrap"); an LLM parses it into a structured scenario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AI fills every missing parameter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with a confidence score — estimates are visibly flagged, never hidden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Full picture per tonne: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GWP, energy, water, acidification + Material Circularity Indicator (Ellen MacArthur v3)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Decision tool, not a calculator: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linear-vs-circular compare with live sliders + auditable PDF report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217920" y="2395728"/>
            <a:ext cx="5605272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INNOVATION &amp; UNIQUENESS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Not a black box: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every figure traces to a cited public factor — source, year, region shown in-app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India-first data: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CEA grid intensity (0.71 kg CO₂/kWh), IBM Minerals Yearbook — global tools ignore Indian conditions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Uncertainty built in: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±9% ranges on every result; Monte Carlo (1,000 runs) in the full build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Instant what-if: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surrogate model answers sliders in milliseconds — prototype already proves the UX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₹0 data cost: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built entirely on free public inventories (IAI, worldsteel, EF 3.1, IDEMAT, US LCI)</a:t>
            </a:r>
          </a:p>
          <a:p>
            <a:r>
              <a:rPr sz="1100" b="1" i="0">
                <a:solidFill>
                  <a:srgbClr val="17803D"/>
                </a:solidFill>
                <a:latin typeface="Segoe UI"/>
              </a:rPr>
              <a:t>Verified: recycled aluminium route = 16.6 → 0.92 t CO₂e/t (−94%), inside IAI published ranges.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Technologies to be used (programming languages, frameworks, hardware)  ·  Methodology and process for implementation (Flow Charts / Images 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32918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STACK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Frontend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Next.js · TypeScript · Tailwind · Recharts · Plotly (Sankey)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Backend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Python FastAPI · Pydantic · PostgreSQL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LCA engine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factor-matrix calc · EMF MCI v3 · Brightway2.5-ready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AI / ML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LightGBM quantile imputer (p10–p90 confidence) · surrogate regressor R² &gt; 0.95, &lt; 20 ms · NumPy Monte Carlo (1,000 runs)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LLM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Claude API — plain text → scenario JSON + grounded recommendations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Reports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Jinja2 → WeasyPrint PDF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Deploy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Docker · Render · Vercel</a:t>
            </a:r>
          </a:p>
          <a:p>
            <a:r>
              <a:rPr sz="1050" b="1" i="0">
                <a:solidFill>
                  <a:srgbClr val="B84E0A"/>
                </a:solidFill>
                <a:latin typeface="Segoe UI"/>
              </a:rPr>
              <a:t>Prototype today: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same formulas, client-side HTML/JS — runs offline, zero backend.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86200" y="1298448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4466E"/>
                </a:solidFill>
                <a:latin typeface="Trebuchet MS"/>
              </a:rPr>
              <a:t>How a query flows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8620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User input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5 fields — or one plain-English sentence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559612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589788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LLM parser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text → structured scenario JSON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760780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790956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AI imputer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fills 25+ params + confidence score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961948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9921240" y="1783080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24466E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LCA engine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quantities × emission factors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897880" y="1517904"/>
            <a:ext cx="3703320" cy="219456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0" bIns="0"/>
          <a:lstStyle/>
          <a:p>
            <a:pPr algn="ctr"/>
            <a:r>
              <a:rPr sz="850" b="1" i="0">
                <a:solidFill>
                  <a:srgbClr val="B84E0A"/>
                </a:solidFill>
                <a:latin typeface="Segoe UI"/>
              </a:rPr>
              <a:t>AI layer</a:t>
            </a:r>
          </a:p>
        </p:txBody>
      </p:sp>
      <p:sp>
        <p:nvSpPr>
          <p:cNvPr id="17421" name="Up Arrow 17420"/>
          <p:cNvSpPr/>
          <p:nvPr/>
        </p:nvSpPr>
        <p:spPr>
          <a:xfrm>
            <a:off x="10058400" y="2679191"/>
            <a:ext cx="237744" cy="365760"/>
          </a:xfrm>
          <a:prstGeom prst="up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an 17421"/>
          <p:cNvSpPr/>
          <p:nvPr/>
        </p:nvSpPr>
        <p:spPr>
          <a:xfrm>
            <a:off x="3886200" y="3090672"/>
            <a:ext cx="6309360" cy="658368"/>
          </a:xfrm>
          <a:prstGeom prst="can">
            <a:avLst/>
          </a:prstGeom>
          <a:solidFill>
            <a:srgbClr val="F2EEE6"/>
          </a:solidFill>
          <a:ln w="11430">
            <a:solidFill>
              <a:srgbClr val="5A6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050" b="1" i="0">
                <a:solidFill>
                  <a:srgbClr val="1C2B3A"/>
                </a:solidFill>
                <a:latin typeface="Segoe UI"/>
              </a:rPr>
              <a:t>Factor library (India-first): </a:t>
            </a:r>
            <a:r>
              <a:rPr sz="1000" b="0" i="0">
                <a:solidFill>
                  <a:srgbClr val="5A6B7B"/>
                </a:solidFill>
                <a:latin typeface="Segoe UI"/>
              </a:rPr>
              <a:t>IAI · worldsteel · CEA CO₂ Baseline · EF 3.1 · IDEMAT — every factor cited (source · year · region)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10716768" y="2679191"/>
            <a:ext cx="237744" cy="1463040"/>
          </a:xfrm>
          <a:prstGeom prst="down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9509760" y="4160520"/>
            <a:ext cx="2240280" cy="960120"/>
          </a:xfrm>
          <a:prstGeom prst="roundRect">
            <a:avLst>
              <a:gd name="adj" fmla="val 6000"/>
            </a:avLst>
          </a:prstGeom>
          <a:solidFill>
            <a:srgbClr val="F7EFD4"/>
          </a:solidFill>
          <a:ln w="1524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Monte Carlo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1,000 runs → ±9% uncertainty ranges</a:t>
            </a:r>
          </a:p>
        </p:txBody>
      </p:sp>
      <p:sp>
        <p:nvSpPr>
          <p:cNvPr id="17425" name="Left Arrow 17424"/>
          <p:cNvSpPr/>
          <p:nvPr/>
        </p:nvSpPr>
        <p:spPr>
          <a:xfrm>
            <a:off x="9198864" y="4507992"/>
            <a:ext cx="274320" cy="256032"/>
          </a:xfrm>
          <a:prstGeom prst="lef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748272" y="4160520"/>
            <a:ext cx="2377440" cy="960120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524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Results / tonne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GWP · energy · water · acidification + MCI chakra</a:t>
            </a:r>
          </a:p>
        </p:txBody>
      </p:sp>
      <p:sp>
        <p:nvSpPr>
          <p:cNvPr id="17427" name="Left Arrow 17426"/>
          <p:cNvSpPr/>
          <p:nvPr/>
        </p:nvSpPr>
        <p:spPr>
          <a:xfrm>
            <a:off x="6437376" y="4507992"/>
            <a:ext cx="274320" cy="256032"/>
          </a:xfrm>
          <a:prstGeom prst="lef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3886200" y="4160520"/>
            <a:ext cx="24688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Dashboard &amp; report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Sankey · compare sliders · recommendations · PDF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86200" y="5349240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C2B3A"/>
                </a:solidFill>
                <a:latin typeface="Segoe UI"/>
              </a:rPr>
              <a:t>Working prototype (this exact methodology, client-side):  </a:t>
            </a:r>
            <a:r>
              <a:rPr sz="1100" b="0" i="1">
                <a:solidFill>
                  <a:srgbClr val="B84E0A"/>
                </a:solidFill>
                <a:latin typeface="Segoe UI"/>
              </a:rPr>
              <a:t>demo video — &lt;add link&gt;   ·   documentation — &lt;add link&gt;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Analysis of the feasibility of the idea  ·  Potential challenges and risks  ·  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457200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WHY THIS IS BUILDABLE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100% free data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IAI, worldsteel, CEA, EF 3.1, IDEMAT, US LCI: no paid-licence blocker anywhere in the pipeline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Already validated: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prototype outputs 16.6 / 0.92 / 2.19 / 0.70 t CO₂e/t (Al primary · Al recycled · BF-BOF · EAF) sit inside published ranges — IAI 16–20 &amp; 0.5–1.5, worldsteel 1.9–2.4 &amp; 0.4–1.0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Working prototype exists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— full calculation methodology runs client-side today; 4-week full-build plan is written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ML needs no scarce dataset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imputer &amp; surrogate train on physics-generated scenarios from our own engine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5212080" y="1353312"/>
          <a:ext cx="6583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4251960"/>
              </a:tblGrid>
              <a:tr h="8077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rebuchet MS"/>
                        </a:rPr>
                        <a:t>Challenge / Risk</a:t>
                      </a:r>
                    </a:p>
                  </a:txBody>
                  <a:tcPr marL="91440" marR="91440" marT="45720" marB="45720" anchor="ctr">
                    <a:solidFill>
                      <a:srgbClr val="244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rebuchet MS"/>
                        </a:rPr>
                        <a:t>Strategy</a:t>
                      </a:r>
                    </a:p>
                  </a:txBody>
                  <a:tcPr marL="91440" marR="91440" marT="45720" marB="45720" anchor="ctr">
                    <a:solidFill>
                      <a:srgbClr val="24466E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LCI data gaps for Indian plants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Curated 100+ factor table, every row cited (source · year · region); fallback chain IN → world average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Wrong numbers = zero credibility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Validation suite vs IAI / worldsteel published values runs on every change; &lt; 10% error target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“AI is a black box” objection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Confidence score on every estimate + provenance table + uncertainty ranges on screen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Users can't fill 25+ parameters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Plain-English entry + AI imputation — only 5–8 inputs needed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Scope creep in hackathon 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v1 locked: Al + steel, 4 impact categories; copper &amp; Brightway as stretch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Potential impact on the target audience  ·  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524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7803D"/>
                </a:solidFill>
                <a:latin typeface="Trebuchet MS"/>
              </a:rPr>
              <a:t>−94%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CO₂ on the recycled aluminium route — 16.6 → 0.92 t CO₂e per tonne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70248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4466E"/>
                </a:solidFill>
                <a:latin typeface="Trebuchet MS"/>
              </a:rPr>
              <a:t>≈ 4.9 t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CO₂e/t removed by a 50% renewable PPA on a primary Al smelter (India grid)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B8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B84E0A"/>
                </a:solidFill>
                <a:latin typeface="Trebuchet MS"/>
              </a:rPr>
              <a:t>₹0 · minutes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database cost &amp; assessment time — vs €4k/yr licences and weeks of consulting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65760" y="2852928"/>
            <a:ext cx="55778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WHO GAINS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Metal producers &amp; MSMEs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LCA answers in minutes; decide scrap %, energy sourcing and routes with numbers, not guesses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Ministry of Mines &amp; regulators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standardised, comparable, auditable plant data; supports the National Critical Mineral Mission and circular-economy policy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Exporters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EU CBAM's definitive regime starts 2026: embedded-emissions reporting for steel &amp; aluminium exports becomes mandatory — exactly what this tool produces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17920" y="2852928"/>
            <a:ext cx="5605272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BENEFITS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Environmental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quantifies the shift to circular routes; pinpoints hotspot stages (smelting ≈ 62% of primary-Al footprint)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Economic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saves licence + consultant costs; higher circularity = lower import dependence on ore &amp; energy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Social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small plants get the same analysis capability as corporates; methodology fully transparent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Strategic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an India-first open emission-factor library becomes reusable national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722376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RESEARCH &amp; DATA SOURCES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1.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ISO 14040 / 14044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LCA principles, requirements &amp; guidelines · iso.org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2.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Ellen MacArthur Foundation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Material Circularity Indicator methodology v3 · ellenmacarthurfoundation.org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3.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International Aluminium Institute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LCI data &amp; GHG pathways · international-aluminium.org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4.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worldsteel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Life Cycle Inventory methodology report · worldsteel.org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5.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CEA CO₂ Baseline Database v19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India grid emission factor · cea.nic.in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6.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US LCI (NREL) / EU EF 3.1 · ELCD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lcacommons.gov · eplca.jrc.ec.europa.eu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7.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IDEMAT 2024, TU Delft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open LCI factors · idematapp.com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8.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IBM Indian Minerals Yearbook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Ministry of Mines · ibm.gov.in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9.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EU CBAM Regulation 2023/956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carbon reporting for metal imports · taxation-customs.ec.europa.eu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10.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NITI Aayog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circular-economy strategy papers for metals · niti.gov.in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772400" y="1353312"/>
            <a:ext cx="4050791" cy="2286000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270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4466E"/>
                </a:solidFill>
                <a:latin typeface="Trebuchet MS"/>
              </a:rPr>
              <a:t>OUR LINKS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Demo video:  </a:t>
            </a:r>
            <a:r>
              <a:rPr sz="1150" b="0" i="1">
                <a:solidFill>
                  <a:srgbClr val="5A6B7B"/>
                </a:solidFill>
                <a:latin typeface="Segoe UI"/>
              </a:rPr>
              <a:t>&lt;add link&gt;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Documentation:  </a:t>
            </a:r>
            <a:r>
              <a:rPr sz="1150" b="0" i="1">
                <a:solidFill>
                  <a:srgbClr val="5A6B7B"/>
                </a:solidFill>
                <a:latin typeface="Segoe UI"/>
              </a:rPr>
              <a:t>&lt;add link&gt;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Live prototype:  </a:t>
            </a:r>
            <a:r>
              <a:rPr sz="1150" b="0" i="1">
                <a:solidFill>
                  <a:srgbClr val="5A6B7B"/>
                </a:solidFill>
                <a:latin typeface="Segoe UI"/>
              </a:rPr>
              <a:t>&lt;add link&gt;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772400" y="3840480"/>
            <a:ext cx="4050791" cy="2359152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270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7803D"/>
                </a:solidFill>
                <a:latin typeface="Trebuchet MS"/>
              </a:rPr>
              <a:t>REPRODUCIBLE BY DESIGN</a:t>
            </a:r>
          </a:p>
          <a:p>
            <a:r>
              <a:rPr sz="1100" b="0" i="0">
                <a:solidFill>
                  <a:srgbClr val="1C2B3A"/>
                </a:solidFill>
                <a:latin typeface="Segoe UI"/>
              </a:rPr>
              <a:t>Every number in this deck — 16.6, 0.92, 2.19, 0.70 t CO₂e/t, MCI 0.16→0.83, 62% electricity share — is computed from the sources listed and can be re-derived from our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